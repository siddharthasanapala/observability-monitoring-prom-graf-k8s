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95FD-C898-26AE-FF00-6BBE46E73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090AE-9A0D-E33D-DADB-3A3CE8319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55FE0-8DD1-29FB-EF06-917D4100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36290-012B-0B59-6F64-E4C96FC1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F66E-1194-7B5F-D3E5-14319A15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1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F178-F35D-9F8A-6112-A2EDDB01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4FA2-2D45-0C41-EDE9-63B0DF4A0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29B3-2F0D-2FBC-9B2D-A2F96C20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A6DAD-51DA-B83E-F130-379E9E2BB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EDE50-7DF6-486D-F523-61588E83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8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752D3-B5A3-1AD0-DE8F-3A92180A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3A974-759A-78EA-56EC-A667BBC8A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D1FEF-17F5-5014-30F5-2136A36D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2F3FD-5D1C-C415-F2A4-814F2D75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A90EB-96F9-251B-7C82-0DE65A08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24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7357-D449-A491-FF59-7576D02FE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F872-E72F-C47F-9293-C5CD88EE6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462DC-BACC-6B22-2B54-330153147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54958-E709-55E8-D30A-37AAC1FE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2FEC3-C75E-77E2-15A3-15AAF2B4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31E18-79CA-AA3E-7FFA-F78AFCA3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22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81C1-9479-6D27-B10D-B0B5612C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28D5A-D4BA-75EE-D54B-FCE9B2D3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97B85-075B-8FBA-99A5-048C1B2A4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455FA-2E93-9C0D-8230-52F27C76F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28E2F-86F1-1EB7-448E-24D27EE52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F3297-F13D-830F-52CF-6817C6FF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189CA-41FA-71E1-AFFB-6122C022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312FD0-C0CD-C1F4-13E0-0F1540CF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66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8582-F83D-8B3C-C5E4-CB9A6A01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C16F6-9578-6943-EE23-E783B12A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B15B8-56A7-E5D9-1D7D-FF790F11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CB105-CF1F-292E-DAE5-63BBAEE1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0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8A58F-DE32-406D-47E8-4B789366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457C7-B0E9-C8AC-B397-D7CD8F5B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BFD19-842B-B9C9-0C0E-4C674E88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2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15D6-0F95-1F65-F248-CA3D1E7B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FA67F-E85F-B34E-0712-E05CBF621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CBC3A-CC77-8B9D-56C5-0898F0DD5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8ED01-0399-E4D6-74C5-F705B083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68A85-5B25-909A-8C81-A4321BF0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4E44D-59AA-C455-6860-BD0C9540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105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5BF5-6604-B37C-0E24-9004C2DF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8BC70-DA32-9A67-A77C-E6CE81047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1A8D2-8E74-3970-EE39-D80335317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7470B-29B7-CDA7-DEF2-5C63DF5D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A991E-DBD0-D6E4-C1CF-DE7CE15D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D27B9-9381-2CB2-69FE-D5E71AD7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817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117F-F618-6868-FBBA-049A43B9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97701-E96B-AE96-281F-0BD464B3C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2745-580B-4384-0586-C364EEEF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D6729-3332-85D8-14E1-8EF80A68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9219D-0B7F-7CD2-02E1-5F1C18A1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76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CA3D84-A9B0-20E1-AE19-5B71EC5D2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FA94F-6F50-92E0-64DD-67957EA89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CB2E8-F19A-2DFD-0939-CED3F5F9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F0B02-B0BC-2576-19D0-C53A8520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EB39A-4981-A3D7-84FC-3CCC8B0E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98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9E2A-5963-6026-4984-63106B65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EFC70-CB03-510C-44C4-A34C69BC4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5FB70-8438-0148-6B12-8881ABA8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2AC42-E522-DE09-6802-5CBF737B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2FA7-276C-7BF6-1EAE-34C27298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45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3198F-5CDD-D55D-C43C-C505515A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79415-76E5-D728-AFC2-962E6DC76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C9005-B0DC-77B5-7F50-949F1C357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5DDE9-E7E3-4DC2-86C8-FEE621BA17A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2C90-E446-9C67-6FF1-44E5DBE08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0940-AE15-5EF5-6F31-6D3BE2714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E3409-E400-482F-9E53-25B14D20C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296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83E8-050B-92D1-2081-5DCB56822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b="1">
                <a:solidFill>
                  <a:srgbClr val="0F5C5C"/>
                </a:solidFill>
              </a:rPr>
              <a:t>Monitoring &amp; Observability Setup for JA</a:t>
            </a:r>
            <a:endParaRPr lang="en-IN" sz="4000" b="1">
              <a:solidFill>
                <a:srgbClr val="0F5C5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E0AF5-BE6B-E915-19CF-1484EEE01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200" b="1">
                <a:solidFill>
                  <a:srgbClr val="8A4B00"/>
                </a:solidFill>
              </a:rPr>
              <a:t>Cost Optimization Through Open-Source Tooling</a:t>
            </a:r>
          </a:p>
          <a:p>
            <a:r>
              <a:rPr lang="en-IN" sz="1400">
                <a:solidFill>
                  <a:srgbClr val="585858"/>
                </a:solidFill>
              </a:rPr>
              <a:t>Prometheus  •  Grafana  •  Loki  •  Tempo  •  ArgoCD
Siddhartha Sanapala  |  22 July 2026</a:t>
            </a:r>
          </a:p>
        </p:txBody>
      </p:sp>
    </p:spTree>
    <p:extLst>
      <p:ext uri="{BB962C8B-B14F-4D97-AF65-F5344CB8AC3E}">
        <p14:creationId xmlns:p14="http://schemas.microsoft.com/office/powerpoint/2010/main" val="102222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A034-3415-CA78-3B30-8F6C6922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9E11-478A-A10A-D676-7C5782DBA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Objective &amp; motto</a:t>
            </a:r>
          </a:p>
          <a:p>
            <a:r>
              <a:rPr lang="en-GB" sz="1800"/>
              <a:t>Architecture overview &amp; technology stack</a:t>
            </a:r>
          </a:p>
          <a:p>
            <a:r>
              <a:rPr lang="en-GB" sz="1800"/>
              <a:t>GitOps delivery via ArgoCD</a:t>
            </a:r>
          </a:p>
          <a:p>
            <a:r>
              <a:rPr lang="en-GB" sz="1800"/>
              <a:t>Namespace strategy</a:t>
            </a:r>
          </a:p>
          <a:p>
            <a:r>
              <a:rPr lang="en-GB" sz="1800"/>
              <a:t>Core components — what &amp; why</a:t>
            </a:r>
          </a:p>
          <a:p>
            <a:r>
              <a:rPr lang="en-GB" sz="1800"/>
              <a:t>How metrics, logs, and traces each flow</a:t>
            </a:r>
          </a:p>
          <a:p>
            <a:r>
              <a:rPr lang="en-GB" sz="1800"/>
              <a:t>Configuration: data sources, querying, retention</a:t>
            </a:r>
          </a:p>
          <a:p>
            <a:r>
              <a:rPr lang="en-GB" sz="1800"/>
              <a:t>What we actually observe (beyond CPU)</a:t>
            </a:r>
          </a:p>
          <a:p>
            <a:r>
              <a:rPr lang="en-GB" sz="1800"/>
              <a:t>Real-world validation</a:t>
            </a:r>
          </a:p>
          <a:p>
            <a:r>
              <a:rPr lang="en-GB" sz="1800"/>
              <a:t>Production readiness &amp; next steps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4C702E-CE41-531E-526B-7C1CC3F43899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2999D-4780-9FBF-CE50-6756A6A8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5E9E8-13DC-FD4D-EF94-63E62873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386017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BFF-0817-EC7E-88CB-8B50A364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Objective &amp; Motto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D7150-E1CC-BECC-FD9B-125F58D4F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Motto: “Setup of monitoring &amp; observability for JA — cost optimization using open-source tools”</a:t>
            </a:r>
          </a:p>
          <a:p>
            <a:r>
              <a:rPr lang="en-GB" sz="1800"/>
              <a:t>100% open-source / CNCF stack — zero licensing cost</a:t>
            </a:r>
          </a:p>
          <a:p>
            <a:r>
              <a:rPr lang="en-GB" sz="1800"/>
              <a:t>One unified platform for metrics + logs + traces, instead of three separate paid tools</a:t>
            </a:r>
          </a:p>
          <a:p>
            <a:r>
              <a:rPr lang="en-GB" sz="1800"/>
              <a:t>Self-hosted = full control over retention, cost, and data residency</a:t>
            </a:r>
          </a:p>
          <a:p>
            <a:r>
              <a:rPr lang="en-GB" sz="1800"/>
              <a:t>Built with enterprise practices from day one: GitOps, RBAC, network segmentation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0BD7D1-3733-8293-7DD9-16F605AE6900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1852-FB23-220F-F2B0-125743AB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516EA-2610-554F-0851-DD72FAC8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75557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F319-1ED2-B666-CB88-7BFB0B05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High-Level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B4776D-1CB2-1E1B-DDA5-41A0420E545A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E642A-20F0-78BD-3169-EE3E8D488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3" y="1460500"/>
            <a:ext cx="11994394" cy="2803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BF5AAC-317E-520F-30D6-1B47D0999D7E}"/>
              </a:ext>
            </a:extLst>
          </p:cNvPr>
          <p:cNvSpPr txBox="1"/>
          <p:nvPr/>
        </p:nvSpPr>
        <p:spPr>
          <a:xfrm>
            <a:off x="762000" y="4492387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00">
                <a:solidFill>
                  <a:srgbClr val="585858"/>
                </a:solidFill>
              </a:rPr>
              <a:t>Every arrow is real, in-cluster traffic — nothing manually wired</a:t>
            </a:r>
          </a:p>
          <a:p>
            <a:r>
              <a:rPr lang="en-GB" sz="1400">
                <a:solidFill>
                  <a:srgbClr val="585858"/>
                </a:solidFill>
              </a:rPr>
              <a:t>Grafana is the single pane of glass across all three pillars</a:t>
            </a:r>
            <a:endParaRPr lang="en-IN" sz="1400">
              <a:solidFill>
                <a:srgbClr val="58585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6AF0A-F3DB-7E44-DE7A-38850395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87AA87-D41A-85B5-4841-89664FAD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30492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FAAE-BC5B-DA8B-1710-AB41E765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Technology Stack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FA3787-B3C3-AD8D-F901-E8553CFD29D3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B0E746-EB18-8B37-751F-DCABFAAA3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846332"/>
              </p:ext>
            </p:extLst>
          </p:nvPr>
        </p:nvGraphicFramePr>
        <p:xfrm>
          <a:off x="635000" y="1460500"/>
          <a:ext cx="1092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1039468859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122944077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F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F5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145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Prometheus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Metrics collection &amp;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8858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Alertmanager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Alert routing &amp; notification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41294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Grafana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Visualization — unified dashboarding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701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Loki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Log aggregation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99879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Promtail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Log shipping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86595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Tempo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Distributed trace storage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995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OTel Collector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Vendor-neutral trace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35497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node-exporter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Host-level infrastructure metrics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685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kube-state-metrics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Kubernetes object-state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8592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ArgoCD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GitOps delivery &amp; manifest history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3566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7A749-59F4-AB35-542A-957C950C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DC132-4A43-6D10-C555-9151EF2C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338865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991C-4BBF-D979-3372-88780C56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GitOps &amp; ArgoCD — Why &amp; How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51466-0FAA-E2D9-A73A-48CA1AB83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Every manifest lives in Git — Git IS the change history</a:t>
            </a:r>
          </a:p>
          <a:p>
            <a:r>
              <a:rPr lang="en-GB" sz="1800"/>
              <a:t>ArgoCD continuously reconciles cluster state to match Git (no drift)</a:t>
            </a:r>
          </a:p>
          <a:p>
            <a:r>
              <a:rPr lang="en-GB" sz="1800"/>
              <a:t>“Self-heal”: any manual kubectl edit not committed to Git is auto-reverted</a:t>
            </a:r>
          </a:p>
          <a:p>
            <a:r>
              <a:rPr lang="en-GB" sz="1800"/>
              <a:t>App-of-Apps pattern — one root Application manages 14 child Applications</a:t>
            </a:r>
          </a:p>
          <a:p>
            <a:r>
              <a:rPr lang="en-GB" sz="1800"/>
              <a:t>Rollback = git revert, not tribal knowledge of past commands</a:t>
            </a:r>
          </a:p>
          <a:p>
            <a:r>
              <a:rPr lang="en-GB" sz="1800"/>
              <a:t>Full audit trail — who changed what, when, reviewed via pull request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B0A26E-C825-008C-E1EF-5643FAF850D7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A06E0-8463-EAFC-A977-436227A8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C0DBC-2BEF-8E3B-8FDF-820DE95B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115366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22F1-1048-FF1C-EC35-124F6794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Namespace Strategy —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843DE-3354-2983-C82F-FEAAF859A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7 namespaces total, split into Platform vs Tenant</a:t>
            </a:r>
          </a:p>
          <a:p>
            <a:r>
              <a:rPr lang="en-IN" sz="1800"/>
              <a:t>Platform: argocd, cert-manager, kube-system</a:t>
            </a:r>
          </a:p>
          <a:p>
            <a:r>
              <a:rPr lang="en-IN" sz="1800"/>
              <a:t>Tenant: observability, logging, tracing, demo-app</a:t>
            </a:r>
          </a:p>
          <a:p>
            <a:r>
              <a:rPr lang="en-IN" sz="1800"/>
              <a:t>Every tenant namespace has its own ResourceQuota, LimitRange, NetworkPolicy, and restricted Pod Security Standard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B1EDE1-6791-9C90-833B-3A70218A1956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B1702-3935-814A-BA71-A7971CF5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615A5-EC97-E983-3950-15FF8938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73936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9B-4CF3-E41D-CF45-50480D47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>
                <a:solidFill>
                  <a:srgbClr val="0F5C5C"/>
                </a:solidFill>
              </a:rPr>
              <a:t>Platform Namespaces vs Tenant Namespaces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8196F-3979-C658-B698-B3A35E91C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Platform namespaces — infrastructure/control-plane concerns, not tied to one workload</a:t>
            </a:r>
          </a:p>
          <a:p>
            <a:r>
              <a:rPr lang="en-IN" sz="1800"/>
              <a:t>  – argocd: the GitOps controller itself</a:t>
            </a:r>
          </a:p>
          <a:p>
            <a:r>
              <a:rPr lang="en-IN" sz="1800"/>
              <a:t>  – cert-manager: certificate lifecycle</a:t>
            </a:r>
          </a:p>
          <a:p>
            <a:r>
              <a:rPr lang="en-IN" sz="1800"/>
              <a:t>  – kube-system: core Kubernetes services + host-access DaemonSets</a:t>
            </a:r>
          </a:p>
          <a:p>
            <a:r>
              <a:rPr lang="en-IN" sz="1800"/>
              <a:t>Tenant namespaces — simulate isolated teams/services, each with its own quota &amp; security boundary</a:t>
            </a:r>
          </a:p>
          <a:p>
            <a:r>
              <a:rPr lang="en-IN" sz="1800"/>
              <a:t>  – observability, logging, tracing, demo-app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E9846-C689-F667-E249-69790B4DEA57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4FEB2-5B2A-D5E1-739A-F0C2A2C1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7B7BA-5368-EBC8-ABC9-E8BE65BB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620034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3390-2D32-BECE-6AD3-CAF7EE10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Namespace-by-Namespace Purpose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0A7BD-B7F2-6A84-307E-73624BA0C935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85E741-BF85-22E7-47C2-E2D8C71FA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191285"/>
              </p:ext>
            </p:extLst>
          </p:nvPr>
        </p:nvGraphicFramePr>
        <p:xfrm>
          <a:off x="635000" y="1460500"/>
          <a:ext cx="10922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1508892169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915722488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257688598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Namespace</a:t>
                      </a:r>
                    </a:p>
                  </a:txBody>
                  <a:tcPr>
                    <a:solidFill>
                      <a:srgbClr val="0F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Hosts</a:t>
                      </a:r>
                    </a:p>
                  </a:txBody>
                  <a:tcPr>
                    <a:solidFill>
                      <a:srgbClr val="0F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F5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49904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argocd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ArgoCD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GitOps control plane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24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cert-manager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cert-manager + issuer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Certificate lifecycle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26815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Prometheus, Alertmanager, Grafana, kube-state-metrics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Metrics + dashboards + alerting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2362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logging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Loki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Log storage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7402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tracing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Tempo, OTel Collector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Trace storage +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415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demo-app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Reference application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Proves the pipeline end-to-end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1722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/>
                        <a:t>kube-system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node-exporter, Promtail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Need host access — incompatible with restricted namespaces</a:t>
                      </a:r>
                      <a:endParaRPr lang="en-IN" sz="130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2137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4434B-CAD3-28AB-3F78-DF07D476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743BD-EF3C-D47E-9BC1-0B479E45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65803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3ED7-A7BD-A002-5D03-30FD8D0E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Prometheus + Alertmanager — Metrics &amp; Alerting Core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B236-213A-A23E-11CC-FD1D001DE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Prometheus pulls (scrapes) metrics from targets on an interval — 2 replicas for HA</a:t>
            </a:r>
          </a:p>
          <a:p>
            <a:r>
              <a:rPr lang="en-IN" sz="1800"/>
              <a:t>Chart: prometheus-community/kube-prometheus-stack, pinned version</a:t>
            </a:r>
          </a:p>
          <a:p>
            <a:r>
              <a:rPr lang="en-IN" sz="1800"/>
              <a:t>Targets discovered automatically via ServiceMonitor CRDs — no manual scrape config</a:t>
            </a:r>
          </a:p>
          <a:p>
            <a:r>
              <a:rPr lang="en-IN" sz="1800"/>
              <a:t>Alertmanager evaluates PrometheusRule alerts and routes notifications — 3 replicas (odd number, real gossip quorum)</a:t>
            </a:r>
          </a:p>
          <a:p>
            <a:r>
              <a:rPr lang="en-IN" sz="1800"/>
              <a:t>Both backed by persistent storage — survive pod restarts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E4ED64-AE50-B89C-C12D-79DF27527855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1C48B-9755-6BBA-9B3D-726BB169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E1F5A-01D2-A350-15CA-6B4675DD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582742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2BE0-AA6D-F87C-63C4-C9779259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Grafana — Visualization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EF3C7-4F10-9718-0571-CDE4C4D6B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Single pane of glass across metrics (Prometheus), logs (Loki), and traces (Tempo)</a:t>
            </a:r>
          </a:p>
          <a:p>
            <a:r>
              <a:rPr lang="en-GB" sz="1800"/>
              <a:t>Deployed as part of the same Helm release as Prometheus</a:t>
            </a:r>
          </a:p>
          <a:p>
            <a:r>
              <a:rPr lang="en-GB" sz="1800"/>
              <a:t>Dashboards &amp; data sources provisioned as code — not manual UI clicks</a:t>
            </a:r>
          </a:p>
          <a:p>
            <a:r>
              <a:rPr lang="en-GB" sz="1800"/>
              <a:t>PVC-backed — dashboards and users persist across restarts</a:t>
            </a:r>
          </a:p>
          <a:p>
            <a:r>
              <a:rPr lang="en-GB" sz="1800"/>
              <a:t>Free &amp; open-source — no per-seat licensing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7F6196-1306-5EF8-7285-2726ACDBD9D5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B2E4B-E1FC-4365-2339-BC73DDF2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1A7A8-4B7C-9B48-64D4-CA50A7CF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3679425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42F9-F06E-EAEE-DDCA-BA710F59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Loki + Promtail — Logging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BA025-16E5-AFAE-D01D-4C58215CB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Loki: log aggregation backend, indexes by label rather than full text — cost-efficient at scale</a:t>
            </a:r>
          </a:p>
          <a:p>
            <a:r>
              <a:rPr lang="en-IN" sz="1800"/>
              <a:t>Deployed in SingleBinary mode — right-sized for this scale, avoids unneeded complexity</a:t>
            </a:r>
          </a:p>
          <a:p>
            <a:r>
              <a:rPr lang="en-IN" sz="1800"/>
              <a:t>Promtail: DaemonSet, one pod per node, tails every container’s stdout</a:t>
            </a:r>
          </a:p>
          <a:p>
            <a:r>
              <a:rPr lang="en-IN" sz="1800"/>
              <a:t>Runs in kube-system — needs hostPath access, incompatible with restricted namespaces</a:t>
            </a:r>
          </a:p>
          <a:p>
            <a:r>
              <a:rPr lang="en-IN" sz="1800"/>
              <a:t>Pushes logs to Loki — cluster-wide visibility by default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5B02D-94EE-EC80-736C-6E9377CFDC66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366CD-D0E5-4491-2B90-E563A5EE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C08E6-4608-B70A-F10F-3666D502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755064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4577F-3CEA-7EB2-3270-DF646F40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Tempo + OTel Collector — Tracing Pipeline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878F4-66D3-BA2B-7EEF-D2563AB84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Tempo stores distributed traces, single-binary mode</a:t>
            </a:r>
          </a:p>
          <a:p>
            <a:r>
              <a:rPr lang="en-GB" sz="1800"/>
              <a:t>OTel Collector sits in front of Tempo rather than apps talking to Tempo directly</a:t>
            </a:r>
          </a:p>
          <a:p>
            <a:r>
              <a:rPr lang="en-GB" sz="1800"/>
              <a:t>Why: vendor-neutral ingestion — the app depends on the OTLP standard, not Tempo specifically</a:t>
            </a:r>
          </a:p>
          <a:p>
            <a:r>
              <a:rPr lang="en-GB" sz="1800"/>
              <a:t>Backend can be swapped later without touching any application code</a:t>
            </a:r>
          </a:p>
          <a:p>
            <a:r>
              <a:rPr lang="en-GB" sz="1800"/>
              <a:t>Both are PVC-backed for trace persistence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2ACA5-4FCF-C51A-4123-62EEA4F62068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84B2B-AEE6-55F0-CC4E-76336C36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D8697-D6FB-264F-B5B1-3F1498BC5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646392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56B9-15A4-A3CB-9229-16811B02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node-exporter + kube-state-metrics — Infrastructure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00264-285B-BE29-D50C-704648DC2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node-exporter: host-level metrics — CPU, memory, disk, network, per node</a:t>
            </a:r>
          </a:p>
          <a:p>
            <a:r>
              <a:rPr lang="en-IN" sz="1800"/>
              <a:t>DaemonSet, needs hostNetwork/hostPID — runs in kube-system</a:t>
            </a:r>
          </a:p>
          <a:p>
            <a:r>
              <a:rPr lang="en-IN" sz="1800"/>
              <a:t>kube-state-metrics: Kubernetes OBJECT state — pod status, deployment replica counts, resource requests/limits</a:t>
            </a:r>
          </a:p>
          <a:p>
            <a:r>
              <a:rPr lang="en-IN" sz="1800"/>
              <a:t>Different data: node-exporter = machine health, kube-state-metrics = cluster/object health</a:t>
            </a:r>
          </a:p>
          <a:p>
            <a:r>
              <a:rPr lang="en-IN" sz="1800"/>
              <a:t>Both scraped by Prometheus like any other target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3D5189-8E1B-0B50-37A0-9EE1B09CDC40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109B-6D93-F6C9-0CCF-AAC8F10D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E24C8-590B-B7DE-5AE1-1BFFEAB62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3892813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3A15-10C4-791D-75F2-982F9DCB5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Metrics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7CED4-F819-8B17-ACF3-0AAB1E77DE55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BB722-BD5D-0C7D-FC7D-5FF1C5AB0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73" y="1460500"/>
            <a:ext cx="11746854" cy="1278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1AAD36-E50B-57C2-8517-D5EDBD6D5A0F}"/>
              </a:ext>
            </a:extLst>
          </p:cNvPr>
          <p:cNvSpPr txBox="1"/>
          <p:nvPr/>
        </p:nvSpPr>
        <p:spPr>
          <a:xfrm>
            <a:off x="762000" y="2967369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00">
                <a:solidFill>
                  <a:srgbClr val="585858"/>
                </a:solidFill>
              </a:rPr>
              <a:t>Pull-based — Prometheus initiates every scrape</a:t>
            </a:r>
          </a:p>
          <a:p>
            <a:r>
              <a:rPr lang="en-GB" sz="1400">
                <a:solidFill>
                  <a:srgbClr val="585858"/>
                </a:solidFill>
              </a:rPr>
              <a:t>Target discovery is fully automatic via ServiceMonitor</a:t>
            </a:r>
            <a:endParaRPr lang="en-IN" sz="1400">
              <a:solidFill>
                <a:srgbClr val="58585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6A21F-994C-B24B-BE58-44DD3FF8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58A61-5A7A-A4AE-1A8D-2C053F45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8599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A528-4296-7347-AFAD-BE30F25B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Logs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4064A-34C5-56AB-408F-BD92BA2DFACC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29C9B-C5B0-0419-E698-6F04CD564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73" y="1460500"/>
            <a:ext cx="11746854" cy="1278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F62576-AF76-1D91-7F28-16F28B873B6F}"/>
              </a:ext>
            </a:extLst>
          </p:cNvPr>
          <p:cNvSpPr txBox="1"/>
          <p:nvPr/>
        </p:nvSpPr>
        <p:spPr>
          <a:xfrm>
            <a:off x="762000" y="2967369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00">
                <a:solidFill>
                  <a:srgbClr val="585858"/>
                </a:solidFill>
              </a:rPr>
              <a:t>Push-based — Promtail sends logs to Loki</a:t>
            </a:r>
          </a:p>
          <a:p>
            <a:r>
              <a:rPr lang="en-GB" sz="1400">
                <a:solidFill>
                  <a:srgbClr val="585858"/>
                </a:solidFill>
              </a:rPr>
              <a:t>Every namespace tailed by default — cluster-wide coverage</a:t>
            </a:r>
            <a:endParaRPr lang="en-IN" sz="1400">
              <a:solidFill>
                <a:srgbClr val="58585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1E46D-A4F6-1C02-F87A-C8462169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F00E0-730F-578B-4766-5086F96E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674967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7B4A-0490-03E3-CE93-B59121C1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Traces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BACB7-1DB4-2F5C-C23B-14FCFF028BA4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3F39E-0507-BD84-C54F-6CB59C73F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73" y="1460500"/>
            <a:ext cx="11746854" cy="1278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CFA3F2-6DAC-26D5-1CBE-73707C70276E}"/>
              </a:ext>
            </a:extLst>
          </p:cNvPr>
          <p:cNvSpPr txBox="1"/>
          <p:nvPr/>
        </p:nvSpPr>
        <p:spPr>
          <a:xfrm>
            <a:off x="762000" y="2967369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00">
                <a:solidFill>
                  <a:srgbClr val="585858"/>
                </a:solidFill>
              </a:rPr>
              <a:t>Push-based — the application exports spans over OTLP</a:t>
            </a:r>
          </a:p>
          <a:p>
            <a:r>
              <a:rPr lang="en-GB" sz="1400">
                <a:solidFill>
                  <a:srgbClr val="585858"/>
                </a:solidFill>
              </a:rPr>
              <a:t>The Collector decouples the app from the specific trace backend</a:t>
            </a:r>
            <a:endParaRPr lang="en-IN" sz="1400">
              <a:solidFill>
                <a:srgbClr val="58585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D3CE7-3420-C212-47D2-77BC27CA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17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22516-755E-7439-32DB-E7006888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770299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95F4-5AF4-7308-8065-C1FE8627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How Grafana Binds It All — Pull vs Push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F8284F-250D-1E3F-D6A7-4362E7E1A9BE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6CD83-0D01-08E2-5ADC-A04F65E2B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768" y="1460500"/>
            <a:ext cx="7852464" cy="3348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035F29-7AE2-05B6-692A-F18979CA3A4D}"/>
              </a:ext>
            </a:extLst>
          </p:cNvPr>
          <p:cNvSpPr txBox="1"/>
          <p:nvPr/>
        </p:nvSpPr>
        <p:spPr>
          <a:xfrm>
            <a:off x="762000" y="5037789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00">
                <a:solidFill>
                  <a:srgbClr val="585858"/>
                </a:solidFill>
              </a:rPr>
              <a:t>Grafana never ingests data — it only queries the three backends</a:t>
            </a:r>
          </a:p>
          <a:p>
            <a:r>
              <a:rPr lang="en-GB" sz="1400">
                <a:solidFill>
                  <a:srgbClr val="585858"/>
                </a:solidFill>
              </a:rPr>
              <a:t>Data is physically stored in each backend’s own persistent volume, never inside Grafana</a:t>
            </a:r>
            <a:endParaRPr lang="en-IN" sz="1400">
              <a:solidFill>
                <a:srgbClr val="58585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E9B1A-3650-4038-49FB-276FD8C4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18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50F85-36BE-8AA7-AD6C-06D28379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528269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05D8-DC2C-F6C8-0048-7A184206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Data Source Configuration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D7BFD-7D21-8DAF-BD12-9C69C31D6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Configured as code in the kube-prometheus-stack Helm values (grafana.additionalDataSources)</a:t>
            </a:r>
          </a:p>
          <a:p>
            <a:r>
              <a:rPr lang="en-GB" sz="1800"/>
              <a:t>Prometheus is wired automatically by the chart itself</a:t>
            </a:r>
          </a:p>
          <a:p>
            <a:r>
              <a:rPr lang="en-GB" sz="1800"/>
              <a:t>Loki &amp; Tempo added explicitly, using in-cluster Service DNS URLs</a:t>
            </a:r>
          </a:p>
          <a:p>
            <a:r>
              <a:rPr lang="en-GB" sz="1800"/>
              <a:t>Zero manual “Add data source” clicks — fully reproducible from Git</a:t>
            </a:r>
          </a:p>
          <a:p>
            <a:r>
              <a:rPr lang="en-GB" sz="1800"/>
              <a:t>Identical configuration redeploys the same way on any cluster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6ED4B-F7FB-D487-2D74-1A37FD44C303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A4138-724C-C139-7345-A932AE36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A812F-3481-292B-FD9A-7B82FE58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3053528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321F-6138-0A13-5908-A2EFE83B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Core Setup Building Blocks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8081C-6999-B3FE-75FC-29DE958A4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Every component installed via pinned, versioned Helm charts — not raw, hand-maintained YAML</a:t>
            </a:r>
          </a:p>
          <a:p>
            <a:r>
              <a:rPr lang="en-IN" sz="1800"/>
              <a:t>prometheus-community/kube-prometheus-stack, grafana/loki, grafana/promtail, grafana/tempo, open-telemetry/opentelemetry-collector</a:t>
            </a:r>
          </a:p>
          <a:p>
            <a:r>
              <a:rPr lang="en-IN" sz="1800"/>
              <a:t>Each chart pulls specific open-source container images: Prometheus, Alertmanager, Grafana, Loki, Promtail, Tempo, otelcol-contrib</a:t>
            </a:r>
          </a:p>
          <a:p>
            <a:r>
              <a:rPr lang="en-IN" sz="1800"/>
              <a:t>Every version pinned — no floating “latest” tags anywhere</a:t>
            </a:r>
          </a:p>
          <a:p>
            <a:r>
              <a:rPr lang="en-IN" sz="1800"/>
              <a:t>Zero proprietary software anywhere in the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73E66-86A5-4E0B-E464-E7E1C1B972CE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8F9BA-ED81-1E28-1849-5AF489C5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8AC1A-CEA0-BC57-24E2-A46B746FD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806781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1360-BB66-284A-C93B-008949A7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Querying &amp; Selective Data Retention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6BFD8-404C-38DE-8B67-78C57BC79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Metrics — PromQL, scoped by label selectors; only relevant series returned</a:t>
            </a:r>
          </a:p>
          <a:p>
            <a:r>
              <a:rPr lang="en-GB" sz="1800"/>
              <a:t>Logs — LogQL, filtered by label + text search, e.g. one namespace or one app</a:t>
            </a:r>
          </a:p>
          <a:p>
            <a:r>
              <a:rPr lang="en-GB" sz="1800"/>
              <a:t>Traces — TraceQL / trace-ID lookup; pull exactly one request’s trace</a:t>
            </a:r>
          </a:p>
          <a:p>
            <a:r>
              <a:rPr lang="en-GB" sz="1800"/>
              <a:t>Metrics ingestion is already selective — Prometheus only scrapes declared ServiceMonitor targets</a:t>
            </a:r>
          </a:p>
          <a:p>
            <a:r>
              <a:rPr lang="en-GB" sz="1800"/>
              <a:t>Logs are ingested cluster-wide by design for full visibility; can be scoped at the Promtail pipeline stage if volume/cost becomes a concern</a:t>
            </a:r>
          </a:p>
          <a:p>
            <a:r>
              <a:rPr lang="en-GB" sz="1800"/>
              <a:t>Retention windows bound how long data is kept, controlling storage growth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095927-1F28-577C-00C7-FD219E37CEB8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D56DA-09F6-5135-B590-6D482E65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67534-D32A-3631-46C2-B05C6782D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622426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2BC0-FA67-E47E-A7F5-D98EB684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What Metrics Do We Actually Collect?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420D9-58FB-A7F2-59C6-540D13A30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Not just CPU / memory — two full categories are captured</a:t>
            </a:r>
          </a:p>
          <a:p>
            <a:r>
              <a:rPr lang="en-IN" sz="1800"/>
              <a:t>Infrastructure: node CPU/mem/disk (node-exporter), pod/deployment state (kube-state-metrics)</a:t>
            </a:r>
          </a:p>
          <a:p>
            <a:r>
              <a:rPr lang="en-IN" sz="1800"/>
              <a:t>Application: HTTP request rate &amp; latency per endpoint, error rate, custom business counters</a:t>
            </a:r>
          </a:p>
          <a:p>
            <a:r>
              <a:rPr lang="en-IN" sz="1800"/>
              <a:t>Captured via OpenTelemetry auto-instrumentation plus custom application metrics</a:t>
            </a:r>
          </a:p>
          <a:p>
            <a:r>
              <a:rPr lang="en-IN" sz="1800"/>
              <a:t>Yes — real endpoint-level hits and user-driven request patterns are captured, not just host resource usage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4FD44-2E08-8C3E-4DA9-AC09D3C9F7E7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3111F-4584-9AFD-B5AD-B60AB9769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F786F-3977-89CB-651C-EF62B9D0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800304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807E-CED8-B9D8-AE08-FDA3FCD31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Reference Application — Proving the Pipeline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B995C-B55A-4E55-726F-2C361A2C4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Purpose-built instrumented application (ASP.NET Core) — not synthetic load</a:t>
            </a:r>
          </a:p>
          <a:p>
            <a:r>
              <a:rPr lang="en-GB" sz="1800"/>
              <a:t>Sends all three pillars simultaneously:</a:t>
            </a:r>
          </a:p>
          <a:p>
            <a:r>
              <a:rPr lang="en-GB" sz="1800"/>
              <a:t>  – Metrics: scraped directly from its /metrics endpoint</a:t>
            </a:r>
          </a:p>
          <a:p>
            <a:r>
              <a:rPr lang="en-GB" sz="1800"/>
              <a:t>  – Traces: OTLP export to the OTel Collector</a:t>
            </a:r>
          </a:p>
          <a:p>
            <a:r>
              <a:rPr lang="en-GB" sz="1800"/>
              <a:t>  – Logs: structured JSON to stdout, tailed by Promtail like every other pod</a:t>
            </a:r>
          </a:p>
          <a:p>
            <a:r>
              <a:rPr lang="en-GB" sz="1800"/>
              <a:t>One real request produces a genuine multi-span trace — not a single isolated span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6117C-D7BE-782A-9D6D-574D605C49B5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47826-8FD3-696F-C7D2-4587971F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BB034-CA03-CB0D-E6B6-C2E185F2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447156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1588-9B8F-EE5F-4E44-789ADDD1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Cross-Pillar Correlation — Proof It Works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D2449-819B-F9F6-580E-B880576BA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Every log line is enriched with the active Trace ID</a:t>
            </a:r>
          </a:p>
          <a:p>
            <a:r>
              <a:rPr lang="en-GB" sz="1800"/>
              <a:t>The same Trace ID appears in the trace (Tempo) and the log line (Loki) for one request</a:t>
            </a:r>
          </a:p>
          <a:p>
            <a:r>
              <a:rPr lang="en-GB" sz="1800"/>
              <a:t>The corresponding Prometheus counter increments for that same request</a:t>
            </a:r>
          </a:p>
          <a:p>
            <a:r>
              <a:rPr lang="en-GB" sz="1800"/>
              <a:t>One click-through path: dashboard panel → exact trace → exact log lines</a:t>
            </a:r>
          </a:p>
          <a:p>
            <a:r>
              <a:rPr lang="en-GB" sz="1800"/>
              <a:t>Validated with real traffic, not assumed from configuration alone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380E98-6E43-9B51-4A8C-0876CFEA1860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796A0-EA83-33D1-985E-F1579FA1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BDDEF-7147-E587-275C-42A83B684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81601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7175-FA51-2024-6DCD-047B68945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Dashboards &amp; Alerts as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8EC53-1677-A0E2-983F-546D9EB01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Dashboard JSON stored in Git, wrapped as a ConfigMap — Grafana’s sidecar auto-loads it</a:t>
            </a:r>
          </a:p>
          <a:p>
            <a:r>
              <a:rPr lang="en-GB" sz="1800"/>
              <a:t>No manual dashboard building through the UI</a:t>
            </a:r>
          </a:p>
          <a:p>
            <a:r>
              <a:rPr lang="en-GB" sz="1800"/>
              <a:t>Alert rules (PrometheusRule) version-controlled: node health, pod crash-loops, application SLO error-rate</a:t>
            </a:r>
          </a:p>
          <a:p>
            <a:r>
              <a:rPr lang="en-GB" sz="1800"/>
              <a:t>Changing a dashboard or alert is a commit + push — ArgoCD does the rest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95395-8634-7783-CBE3-1097FC29C8D0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DD03A-77D4-3DB4-3188-CF4B1C58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B9987-AE01-B303-6F82-5113A2D3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562597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82DE-7050-B530-1238-FEB26EE6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Real Incident Caught — Validating the Alerting Pipeline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13C9B-B691-BFE4-765D-31ACF1EBB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Yes — a real CrashLoopBackOff was encountered in this implementation (Tempo, OOMKilled)</a:t>
            </a:r>
          </a:p>
          <a:p>
            <a:r>
              <a:rPr lang="en-GB" sz="1800"/>
              <a:t>The PodCrashLooping alert fired correctly and caught it</a:t>
            </a:r>
          </a:p>
          <a:p>
            <a:r>
              <a:rPr lang="en-GB" sz="1800"/>
              <a:t>Root cause: a memory/values misconfiguration — diagnosed and fixed via a Git commit</a:t>
            </a:r>
          </a:p>
          <a:p>
            <a:r>
              <a:rPr lang="en-GB" sz="1800"/>
              <a:t>Proof the alerting pipeline detects genuine problems, not just lab conditions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AE88B4-EA29-0588-5825-5C93DA41C11E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52E65-86C0-9B96-9654-2EB5C3FB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88FC5-699D-A572-6859-AFEA658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806101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3007-6409-C160-0EBA-8421BEA00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Workload Types — Why Each One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D155A-3E40-011F-3DD3-CB57B101E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StatefulSets — Prometheus, Alertmanager, Loki, Tempo: need stable identity + per-replica persistent storage</a:t>
            </a:r>
          </a:p>
          <a:p>
            <a:r>
              <a:rPr lang="en-IN" sz="1800"/>
              <a:t>Deployments — Grafana, OTel Collector, the sample app: stateless, interchangeable replicas, trivial rolling updates</a:t>
            </a:r>
          </a:p>
          <a:p>
            <a:r>
              <a:rPr lang="en-IN" sz="1800"/>
              <a:t>DaemonSets — node-exporter, Promtail: need exactly one pod per node for host-level collection</a:t>
            </a:r>
          </a:p>
          <a:p>
            <a:r>
              <a:rPr lang="en-IN" sz="1800"/>
              <a:t>Workload type is chosen by data/identity needs, not convention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3F1AF-2E7D-06EA-E9C7-E858E9BC0984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66283-AE79-0B5E-E515-A32A4E6B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E4862-22ED-C8CC-EE11-7FB15C44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3822169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E50F-FBB0-FAA9-6401-767361AE1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Current Environment — Minikube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C7BCC-CFC7-50F4-9202-C71D9770D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The entire implementation was built and validated hands-on on Minikube</a:t>
            </a:r>
          </a:p>
          <a:p>
            <a:r>
              <a:rPr lang="en-GB" sz="1800"/>
              <a:t>Proves the Kubernetes-native design — the 90% that matters — before any cloud spend</a:t>
            </a:r>
          </a:p>
          <a:p>
            <a:r>
              <a:rPr lang="en-GB" sz="1800"/>
              <a:t>Same manifests, same Helm charts — portable by design</a:t>
            </a:r>
          </a:p>
          <a:p>
            <a:r>
              <a:rPr lang="en-GB" sz="1800"/>
              <a:t>An honest starting point for the production conversation, not a hidden detail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8D8D77-33A2-3A93-487C-34656CD74973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48BF7-FC9F-87CF-B324-69FA65B9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6D79C-701A-766A-3DD9-ED48450A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068266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A211-3BD6-52A1-C8A0-A928EABC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Production Bottlenecks of the Current Setup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72235-8F0D-400A-7E97-2BE3207C9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Single-node cluster — no real multi-node / multi-AZ high availability</a:t>
            </a:r>
          </a:p>
          <a:p>
            <a:r>
              <a:rPr lang="en-IN" sz="1800"/>
              <a:t>Local hostPath storage — not durable, tied to one node, cannot survive node loss</a:t>
            </a:r>
          </a:p>
          <a:p>
            <a:r>
              <a:rPr lang="en-IN" sz="1800"/>
              <a:t>No real cloud IAM — identity federation is designed for, but not wired to, a real provider</a:t>
            </a:r>
          </a:p>
          <a:p>
            <a:r>
              <a:rPr lang="en-IN" sz="1800"/>
              <a:t>No real Ingress / TLS / DNS — accessed via port-forward during development</a:t>
            </a:r>
          </a:p>
          <a:p>
            <a:r>
              <a:rPr lang="en-IN" sz="1800"/>
              <a:t>No node autoscaling — fixed local resource ceiling shared with the whole machine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F8F07-94AB-8144-FFAD-CCE0CE215773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F3325-4EF3-18A9-DC18-50224A13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29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91FC9-AC91-799C-1673-94A46260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3770464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2322-6162-3CDB-F86D-53A91297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0F5C5C"/>
                </a:solidFill>
              </a:rPr>
              <a:t>Overcoming Them — The Cloud-Native Path</a:t>
            </a:r>
            <a:endParaRPr lang="en-IN" sz="2800" b="1">
              <a:solidFill>
                <a:srgbClr val="0F5C5C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0959F-D3B6-4DF7-6E65-4CC28CA63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IN" sz="1800"/>
              <a:t>Move to a managed multi-AZ cluster (GKE or EKS) — real node &amp; control-plane high availability</a:t>
            </a:r>
          </a:p>
          <a:p>
            <a:r>
              <a:rPr lang="en-IN" sz="1800"/>
              <a:t>Cloud block storage (Persistent Disk / EBS gp3) — durable and zone-aware</a:t>
            </a:r>
          </a:p>
          <a:p>
            <a:r>
              <a:rPr lang="en-IN" sz="1800"/>
              <a:t>Workload Identity / IRSA — keyless AWS/GCP API access, no stored credentials</a:t>
            </a:r>
          </a:p>
          <a:p>
            <a:r>
              <a:rPr lang="en-IN" sz="1800"/>
              <a:t>Managed load balancer + ACM / Google-managed certificates for real external access</a:t>
            </a:r>
          </a:p>
          <a:p>
            <a:r>
              <a:rPr lang="en-IN" sz="1800"/>
              <a:t>Cluster Autoscaler — node capacity scales with demand</a:t>
            </a:r>
          </a:p>
          <a:p>
            <a:r>
              <a:rPr lang="en-IN" sz="1800"/>
              <a:t>Already documented and Helm-packaged for both clouds — zero redesign needed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5F5F8-922E-C363-F146-783C8253B5BB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1FFF7-E664-56EC-689F-33275E1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30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DF50A-71F2-010D-1BEF-BDE6C599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150077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0A49-F197-1E41-F431-7A0B842C2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Prometheus Storage in Production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29C7D-02A0-7724-2A12-2D40B29A5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Short/medium retention: a larger cloud-backed PVC (gp3 / premium-rwo), same self-managed Prometheus</a:t>
            </a:r>
          </a:p>
          <a:p>
            <a:r>
              <a:rPr lang="en-GB" sz="1800"/>
              <a:t>Long-term/historical retention: remote_write to Thanos, Cortex, or Mimir — object-storage backed (S3/GCS)</a:t>
            </a:r>
          </a:p>
          <a:p>
            <a:r>
              <a:rPr lang="en-GB" sz="1800"/>
              <a:t>Fully managed alternative: Amazon Managed Service for Prometheus / Google Cloud Managed Service for Prometheus</a:t>
            </a:r>
          </a:p>
          <a:p>
            <a:r>
              <a:rPr lang="en-GB" sz="1800"/>
              <a:t>Choice depends on retention needs vs. operational effort — both paths already evaluated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356A9D-F1D3-C1F1-83C5-F4EF6D830E49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9D978-6CA4-2BF8-5D5F-878537DB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31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29849-4868-80E2-D9C7-9F24FCF6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4049866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F6E0-77F0-C839-4D87-6EA51E81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Cost Optimization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04182-2D9B-CE9D-9FCC-F55262528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$0 licensing across the entire stack — 100% open-source / CNCF projects</a:t>
            </a:r>
          </a:p>
          <a:p>
            <a:r>
              <a:rPr lang="en-GB" sz="1800"/>
              <a:t>One platform instead of separate paid tools for metrics, logs, and traces</a:t>
            </a:r>
          </a:p>
          <a:p>
            <a:r>
              <a:rPr lang="en-GB" sz="1800"/>
              <a:t>Retention &amp; storage tuned to actual need, not a vendor’s fixed pricing tier</a:t>
            </a:r>
          </a:p>
          <a:p>
            <a:r>
              <a:rPr lang="en-GB" sz="1800"/>
              <a:t>Self-hosted — pay only for the compute/storage actually consumed</a:t>
            </a:r>
          </a:p>
          <a:p>
            <a:r>
              <a:rPr lang="en-GB" sz="1800"/>
              <a:t>GitOps reduces operational toil — fewer manual-intervention incidents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0DF3FA-C1C5-FBD8-A276-6388D89D8EC6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532BA-9703-59C6-6EC3-24ADA865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32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02291-CA24-77D3-1CEE-A3DD78856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1607705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23E9-FADF-AFB3-CD02-871D06AC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solidFill>
                  <a:srgbClr val="0F5C5C"/>
                </a:solidFill>
              </a:rPr>
              <a:t>Key Achievements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8640B-E530-7F4B-5BB7-C14A3872A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GB" sz="1800"/>
              <a:t>Full 3-pillar observability stack, GitOps-managed end to end</a:t>
            </a:r>
          </a:p>
          <a:p>
            <a:r>
              <a:rPr lang="en-GB" sz="1800"/>
              <a:t>26/26 automated validation checks passing</a:t>
            </a:r>
          </a:p>
          <a:p>
            <a:r>
              <a:rPr lang="en-GB" sz="1800"/>
              <a:t>Enterprise security baseline: RBAC, NetworkPolicy, Pod Security Standards</a:t>
            </a:r>
          </a:p>
          <a:p>
            <a:r>
              <a:rPr lang="en-GB" sz="1800"/>
              <a:t>A real incident was caught and resolved using the platform itself</a:t>
            </a:r>
          </a:p>
          <a:p>
            <a:r>
              <a:rPr lang="en-GB" sz="1800"/>
              <a:t>Cloud-ready — GKE and EKS packaging already built and validated</a:t>
            </a:r>
            <a:endParaRPr lang="en-IN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60789F-C3A9-BAAA-24C3-6CB331EF73D5}"/>
              </a:ext>
            </a:extLst>
          </p:cNvPr>
          <p:cNvSpPr/>
          <p:nvPr/>
        </p:nvSpPr>
        <p:spPr>
          <a:xfrm>
            <a:off x="698500" y="1168400"/>
            <a:ext cx="1524000" cy="50800"/>
          </a:xfrm>
          <a:prstGeom prst="rect">
            <a:avLst/>
          </a:prstGeom>
          <a:solidFill>
            <a:srgbClr val="8A4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2F6A0-F5FB-E9CD-3381-49A87A99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3409-E400-482F-9E53-25B14D20CA5A}" type="slidenum">
              <a:rPr lang="en-IN" smtClean="0"/>
              <a:t>33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A7EF0-3E01-C33D-B669-7244951A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Monitoring &amp; Observability for JA</a:t>
            </a:r>
          </a:p>
        </p:txBody>
      </p:sp>
    </p:spTree>
    <p:extLst>
      <p:ext uri="{BB962C8B-B14F-4D97-AF65-F5344CB8AC3E}">
        <p14:creationId xmlns:p14="http://schemas.microsoft.com/office/powerpoint/2010/main" val="2573840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7161-9887-F904-133E-66B4D205C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>
                <a:solidFill>
                  <a:srgbClr val="0F5C5C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FC455-3F6C-5DFD-710E-7C28E693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200" b="1">
                <a:solidFill>
                  <a:srgbClr val="8A4B00"/>
                </a:solidFill>
              </a:rPr>
              <a:t>Questions &amp; Discussion</a:t>
            </a:r>
          </a:p>
          <a:p>
            <a:r>
              <a:rPr lang="en-IN" sz="1400">
                <a:solidFill>
                  <a:srgbClr val="585858"/>
                </a:solidFill>
              </a:rPr>
              <a:t>Siddhartha Sanapala  |  siddhartha.sanapala@sailssoftware.com</a:t>
            </a:r>
          </a:p>
        </p:txBody>
      </p:sp>
    </p:spTree>
    <p:extLst>
      <p:ext uri="{BB962C8B-B14F-4D97-AF65-F5344CB8AC3E}">
        <p14:creationId xmlns:p14="http://schemas.microsoft.com/office/powerpoint/2010/main" val="1638347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2142</Words>
  <Application>Microsoft Office PowerPoint</Application>
  <PresentationFormat>Custom</PresentationFormat>
  <Paragraphs>287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Monitoring &amp; Observability Setup for JA</vt:lpstr>
      <vt:lpstr>Agenda</vt:lpstr>
      <vt:lpstr>Objective &amp; Motto</vt:lpstr>
      <vt:lpstr>High-Level Architecture</vt:lpstr>
      <vt:lpstr>Technology Stack Overview</vt:lpstr>
      <vt:lpstr>GitOps &amp; ArgoCD — Why &amp; How</vt:lpstr>
      <vt:lpstr>Namespace Strategy — Overview</vt:lpstr>
      <vt:lpstr>Platform Namespaces vs Tenant Namespaces</vt:lpstr>
      <vt:lpstr>Namespace-by-Namespace Purpose</vt:lpstr>
      <vt:lpstr>Prometheus + Alertmanager — Metrics &amp; Alerting Core</vt:lpstr>
      <vt:lpstr>Grafana — Visualization Core</vt:lpstr>
      <vt:lpstr>Loki + Promtail — Logging Pipeline</vt:lpstr>
      <vt:lpstr>Tempo + OTel Collector — Tracing Pipeline</vt:lpstr>
      <vt:lpstr>node-exporter + kube-state-metrics — Infrastructure Metrics</vt:lpstr>
      <vt:lpstr>Metrics Flow</vt:lpstr>
      <vt:lpstr>Logs Flow</vt:lpstr>
      <vt:lpstr>Traces Flow</vt:lpstr>
      <vt:lpstr>How Grafana Binds It All — Pull vs Push</vt:lpstr>
      <vt:lpstr>Data Source Configuration</vt:lpstr>
      <vt:lpstr>Core Setup Building Blocks</vt:lpstr>
      <vt:lpstr>Querying &amp; Selective Data Retention</vt:lpstr>
      <vt:lpstr>What Metrics Do We Actually Collect?</vt:lpstr>
      <vt:lpstr>Reference Application — Proving the Pipeline</vt:lpstr>
      <vt:lpstr>Cross-Pillar Correlation — Proof It Works</vt:lpstr>
      <vt:lpstr>Dashboards &amp; Alerts as Code</vt:lpstr>
      <vt:lpstr>Real Incident Caught — Validating the Alerting Pipeline</vt:lpstr>
      <vt:lpstr>Workload Types — Why Each One</vt:lpstr>
      <vt:lpstr>Current Environment — Minikube</vt:lpstr>
      <vt:lpstr>Production Bottlenecks of the Current Setup</vt:lpstr>
      <vt:lpstr>Overcoming Them — The Cloud-Native Path</vt:lpstr>
      <vt:lpstr>Prometheus Storage in Production</vt:lpstr>
      <vt:lpstr>Cost Optimization Summary</vt:lpstr>
      <vt:lpstr>Key Achievements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 Sanapala</dc:creator>
  <cp:lastModifiedBy>Siddhartha Sanapala</cp:lastModifiedBy>
  <cp:revision>1</cp:revision>
  <dcterms:created xsi:type="dcterms:W3CDTF">2026-07-22T14:02:50Z</dcterms:created>
  <dcterms:modified xsi:type="dcterms:W3CDTF">2026-07-22T14:02:50Z</dcterms:modified>
</cp:coreProperties>
</file>